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92" r:id="rId7"/>
    <p:sldId id="293" r:id="rId8"/>
    <p:sldId id="290" r:id="rId9"/>
    <p:sldId id="291" r:id="rId10"/>
    <p:sldId id="29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5F4669-C8A2-492C-8FE3-DC3BB76E7A64}" v="15" dt="2025-11-03T05:56:50.7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922" y="1447800"/>
            <a:ext cx="7702278" cy="1750515"/>
          </a:xfrm>
        </p:spPr>
        <p:txBody>
          <a:bodyPr>
            <a:normAutofit fontScale="90000"/>
          </a:bodyPr>
          <a:lstStyle/>
          <a:p>
            <a:pPr algn="l"/>
            <a:br>
              <a:rPr lang="en-US" dirty="0"/>
            </a:br>
            <a:r>
              <a:rPr lang="en-US" dirty="0"/>
              <a:t>                   PIXEL PRIZE</a:t>
            </a:r>
            <a:br>
              <a:rPr lang="en-US" dirty="0"/>
            </a:br>
            <a:r>
              <a:rPr lang="en-US" dirty="0"/>
              <a:t>                  </a:t>
            </a:r>
            <a:r>
              <a:rPr lang="en-US" sz="1600" dirty="0"/>
              <a:t>Major  </a:t>
            </a:r>
            <a:r>
              <a:rPr lang="en-US" sz="1800" dirty="0"/>
              <a:t>Project / 7</a:t>
            </a:r>
            <a:r>
              <a:rPr lang="en-US" sz="1800" baseline="30000" dirty="0"/>
              <a:t>h</a:t>
            </a:r>
            <a:r>
              <a:rPr lang="en-US" sz="2000" dirty="0"/>
              <a:t> Sem/ BCS753</a:t>
            </a:r>
            <a:endParaRPr lang="en-US" sz="1600" dirty="0">
              <a:ea typeface="Calibri"/>
              <a:cs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886200"/>
            <a:ext cx="2514600" cy="1752600"/>
          </a:xfrm>
        </p:spPr>
        <p:txBody>
          <a:bodyPr>
            <a:normAutofit fontScale="55000" lnSpcReduction="20000"/>
          </a:bodyPr>
          <a:lstStyle/>
          <a:p>
            <a:r>
              <a:rPr lang="en-US" sz="3400" dirty="0">
                <a:solidFill>
                  <a:schemeClr val="tx1"/>
                </a:solidFill>
              </a:rPr>
              <a:t>STUDENT NAME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3400" dirty="0">
                <a:solidFill>
                  <a:schemeClr val="tx1"/>
                </a:solidFill>
              </a:rPr>
              <a:t>: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1.Ansh Arora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2300320120049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2.Aditya Narayana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2300320120023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3.Aditya Chauhan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2300320120017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5410200" y="3810000"/>
            <a:ext cx="25146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SUPERVISOR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NAME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</a:p>
          <a:p>
            <a:pPr algn="ctr">
              <a:spcBef>
                <a:spcPct val="20000"/>
              </a:spcBef>
              <a:defRPr/>
            </a:pPr>
            <a:r>
              <a:rPr lang="en-US" sz="1600" dirty="0"/>
              <a:t>[Ms. Sonia Lamba]</a:t>
            </a:r>
            <a:endParaRPr lang="en-US" sz="16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Calibri"/>
              <a:cs typeface="Calibri"/>
            </a:endParaRPr>
          </a:p>
        </p:txBody>
      </p:sp>
      <p:pic>
        <p:nvPicPr>
          <p:cNvPr id="5" name="Picture 4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304800"/>
            <a:ext cx="1266825" cy="1266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762000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ABSTRACT</a:t>
            </a:r>
            <a:endParaRPr lang="en-US" sz="1200" dirty="0"/>
          </a:p>
        </p:txBody>
      </p:sp>
      <p:pic>
        <p:nvPicPr>
          <p:cNvPr id="6" name="Picture 5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152400"/>
            <a:ext cx="1266825" cy="1266825"/>
          </a:xfrm>
          <a:prstGeom prst="rect">
            <a:avLst/>
          </a:prstGeom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838200" y="2487561"/>
            <a:ext cx="77724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948813" y="1897626"/>
            <a:ext cx="7551174" cy="4807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3200" dirty="0"/>
              <a:t>The platform is a comprehensive web application designed to host multiple concurrent photography competitions alongside public galleries, winner showcases, and tutorial articles.</a:t>
            </a:r>
            <a:br>
              <a:rPr lang="en-IN" sz="3200" dirty="0"/>
            </a:b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  <a:r>
              <a:rPr lang="en-IN" sz="3200" dirty="0"/>
              <a:t>It introduces an intelligent computer vision pipeline to tackle scalability and fairness bottlenecks in digital photography contests.</a:t>
            </a:r>
            <a:br>
              <a:rPr lang="en-IN" sz="3200" dirty="0"/>
            </a:br>
            <a:endParaRPr lang="en-US" sz="3000" dirty="0"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3200" dirty="0"/>
              <a:t>The system automates the preliminary screening process by scoring photos on technical and artistic criteria like composition, lighting, and colour harmony.</a:t>
            </a:r>
            <a:br>
              <a:rPr lang="en-IN" sz="3200" dirty="0"/>
            </a:b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  <a:r>
              <a:rPr lang="en-IN" sz="3200" dirty="0"/>
              <a:t>It integrates a multimedia forensics module to filter out fully synthetic, AI-generated images or heavily prohibited manipulations.</a:t>
            </a:r>
            <a:br>
              <a:rPr lang="en-IN" sz="3200" dirty="0"/>
            </a:br>
            <a:endParaRPr lang="en-US" sz="3000" dirty="0"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3200" dirty="0"/>
              <a:t>The workflow reduces thousands of entries down to a verified top 10 shortlist, allowing human judges to efficiently pick the final winners.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85800"/>
            <a:ext cx="7772400" cy="1470025"/>
          </a:xfrm>
        </p:spPr>
        <p:txBody>
          <a:bodyPr/>
          <a:lstStyle/>
          <a:p>
            <a:pPr algn="l"/>
            <a:r>
              <a:rPr lang="en-US" dirty="0"/>
              <a:t>OBJECTIVE</a:t>
            </a:r>
            <a:endParaRPr lang="en-US" sz="1200" dirty="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228600"/>
            <a:ext cx="1266825" cy="1266825"/>
          </a:xfrm>
          <a:prstGeom prst="rect">
            <a:avLst/>
          </a:prstGeom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894736" y="2303207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IN" sz="3200" dirty="0"/>
              <a:t>To design and develop a scalable web architecture capable of managing simultaneous, multi-themed photography competitions.</a:t>
            </a:r>
            <a:br>
              <a:rPr lang="en-IN" sz="3200" dirty="0"/>
            </a:b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  <a:r>
              <a:rPr lang="en-IN" sz="3200" dirty="0"/>
              <a:t>To implement an Image Aesthetic Assessment (IAA) model to grade submissions objectively based on photographic parameters (sharpness, resolution, angle, lighting).</a:t>
            </a:r>
            <a:br>
              <a:rPr lang="en-IN" sz="3200" dirty="0"/>
            </a:br>
            <a:endParaRPr lang="en-US" sz="3000" dirty="0"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3200" dirty="0"/>
              <a:t>To integrate an anti-fraud and deepfake detection mechanism (using EXIF validation and frequency-domain analysis) to flag synthetic media.</a:t>
            </a:r>
            <a:br>
              <a:rPr lang="en-IN" sz="3200" dirty="0"/>
            </a:b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  <a:r>
              <a:rPr lang="en-IN" sz="3200" dirty="0"/>
              <a:t>To establish a hybrid judging framework that optimizes the workflow from bulk crowd-submission to an automated top 10 shortlist for human evaluation.</a:t>
            </a:r>
            <a:br>
              <a:rPr lang="en-IN" sz="3200" dirty="0"/>
            </a:br>
            <a:endParaRPr lang="en-US" sz="3000" dirty="0"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3200" dirty="0"/>
              <a:t>To build an engaging community layer featuring dynamic public galleries, winner showcases, and educational photography articles.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990600"/>
            <a:ext cx="7772400" cy="1470025"/>
          </a:xfrm>
        </p:spPr>
        <p:txBody>
          <a:bodyPr/>
          <a:lstStyle/>
          <a:p>
            <a:pPr algn="l"/>
            <a:r>
              <a:rPr lang="en-US"/>
              <a:t>SCOPE of the Problem Statement </a:t>
            </a:r>
            <a:endParaRPr lang="en-US" sz="1200"/>
          </a:p>
        </p:txBody>
      </p:sp>
      <p:pic>
        <p:nvPicPr>
          <p:cNvPr id="3" name="Picture 2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304800"/>
            <a:ext cx="1266825" cy="1266825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914400" y="2257425"/>
            <a:ext cx="7772400" cy="3962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3200" b="1" dirty="0"/>
              <a:t>The Scale Bottleneck:</a:t>
            </a:r>
            <a:r>
              <a:rPr lang="en-IN" sz="3200" dirty="0"/>
              <a:t> Modern photography competitions receive thousands of entries, making manual pre-filtering slow, expensive, and prone to human fatigue or bias.</a:t>
            </a:r>
            <a:br>
              <a:rPr lang="en-IN" sz="3200" dirty="0"/>
            </a:b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en-US" sz="3000" dirty="0">
                <a:latin typeface="+mj-lt"/>
                <a:ea typeface="+mj-ea"/>
                <a:cs typeface="+mj-cs"/>
              </a:rPr>
              <a:t> </a:t>
            </a:r>
            <a:r>
              <a:rPr lang="en-IN" sz="3200" b="1" dirty="0"/>
              <a:t>The AI Threat:</a:t>
            </a:r>
            <a:r>
              <a:rPr lang="en-IN" sz="3200" dirty="0"/>
              <a:t> The proliferation of generative tools (Midjourney, Stable Diffusion) floods contests with fake imagery, ruining the integrity of human-centric photography.</a:t>
            </a:r>
            <a:br>
              <a:rPr lang="en-IN" sz="3200" dirty="0"/>
            </a:br>
            <a:endParaRPr lang="en-US" sz="3000" dirty="0">
              <a:latin typeface="+mj-lt"/>
              <a:ea typeface="+mj-ea"/>
              <a:cs typeface="+mj-cs"/>
            </a:endParaRPr>
          </a:p>
          <a:p>
            <a:pPr lvl="0"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kumimoji="0" lang="en-US" sz="3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IN" sz="3200" b="1" dirty="0"/>
              <a:t>System Boundary:</a:t>
            </a:r>
            <a:r>
              <a:rPr lang="en-IN" sz="3200" dirty="0"/>
              <a:t> The project focuses on web-based contest hosting, automated computer vision scoring, metadata/frequency forensics, and a streamlined judge dashboard, excluding native mobile application development for the initial release.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sz="3000" dirty="0"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10878"/>
            <a:ext cx="6594339" cy="1512098"/>
          </a:xfrm>
        </p:spPr>
        <p:txBody>
          <a:bodyPr/>
          <a:lstStyle/>
          <a:p>
            <a:pPr algn="l"/>
            <a:r>
              <a:rPr lang="en-US" dirty="0"/>
              <a:t>RELATED WORK  </a:t>
            </a:r>
            <a:endParaRPr lang="en-US" sz="1400" dirty="0">
              <a:ea typeface="Calibri"/>
              <a:cs typeface="Calibri"/>
            </a:endParaRP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600" y="304800"/>
            <a:ext cx="1266825" cy="12668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35EB12-6F3A-A8E5-51F0-CA7158E88C0B}"/>
              </a:ext>
            </a:extLst>
          </p:cNvPr>
          <p:cNvSpPr txBox="1"/>
          <p:nvPr/>
        </p:nvSpPr>
        <p:spPr>
          <a:xfrm>
            <a:off x="894735" y="1822976"/>
            <a:ext cx="73152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Computational Aesthetics Research:</a:t>
            </a:r>
            <a:r>
              <a:rPr lang="en-IN" dirty="0"/>
              <a:t> Utilizing deep convolutional networks and datasets like AVA (Aesthetic Visual Analysis) to quantify visual appeal.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Automated Culling Software:</a:t>
            </a:r>
            <a:r>
              <a:rPr lang="en-IN" dirty="0"/>
              <a:t> Industry tools like </a:t>
            </a:r>
            <a:r>
              <a:rPr lang="en-IN" dirty="0" err="1"/>
              <a:t>Aftershoot</a:t>
            </a:r>
            <a:r>
              <a:rPr lang="en-IN" dirty="0"/>
              <a:t> that pre-sort professional photo shoots based on sharpness and lighting.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Contest Management Platforms:</a:t>
            </a:r>
            <a:r>
              <a:rPr lang="en-IN" dirty="0"/>
              <a:t> Existing frameworks like Submittable and </a:t>
            </a:r>
            <a:r>
              <a:rPr lang="en-IN" dirty="0" err="1"/>
              <a:t>Picter</a:t>
            </a:r>
            <a:r>
              <a:rPr lang="en-IN" dirty="0"/>
              <a:t> that handle submissions, though they lack built-in automated aesthetic and anti-AI pre-filtering algorithms.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Synthetic Image Forensics:</a:t>
            </a:r>
            <a:r>
              <a:rPr lang="en-IN" dirty="0"/>
              <a:t> Research into Fast Fourier Transform (FFT) and frequency-domain artifact analysis to unmask deepfake creations.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/>
          <a:lstStyle/>
          <a:p>
            <a:pPr algn="l"/>
            <a:r>
              <a:rPr lang="en-US" dirty="0">
                <a:cs typeface="Calibri"/>
              </a:rPr>
              <a:t>Applications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3B5540-8FF2-BB71-C2DE-2B0BFC8DCBD7}"/>
              </a:ext>
            </a:extLst>
          </p:cNvPr>
          <p:cNvSpPr txBox="1"/>
          <p:nvPr/>
        </p:nvSpPr>
        <p:spPr>
          <a:xfrm>
            <a:off x="1022555" y="1851026"/>
            <a:ext cx="76593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Photography Magazines &amp; Festivals:</a:t>
            </a:r>
            <a:r>
              <a:rPr lang="en-IN" dirty="0"/>
              <a:t> Automating the initial review phase for global contests to save hundreds of manual curation hours.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Academic &amp; Corporate Contests:</a:t>
            </a:r>
            <a:r>
              <a:rPr lang="en-IN" dirty="0"/>
              <a:t> Providing secure, tamper-proof platforms for institutions running internal photography events.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Professional Communities:</a:t>
            </a:r>
            <a:r>
              <a:rPr lang="en-IN" dirty="0"/>
              <a:t> Giving indie creators an authenticated space where genuine human talent is protected from synthetic entries.</a:t>
            </a:r>
          </a:p>
        </p:txBody>
      </p:sp>
    </p:spTree>
    <p:extLst>
      <p:ext uri="{BB962C8B-B14F-4D97-AF65-F5344CB8AC3E}">
        <p14:creationId xmlns:p14="http://schemas.microsoft.com/office/powerpoint/2010/main" val="871869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/>
          <a:lstStyle/>
          <a:p>
            <a:pPr algn="l"/>
            <a:r>
              <a:rPr lang="en-US" dirty="0">
                <a:ea typeface="Calibri"/>
                <a:cs typeface="Calibri"/>
              </a:rPr>
              <a:t>Limitations</a:t>
            </a:r>
          </a:p>
        </p:txBody>
      </p:sp>
      <p:pic>
        <p:nvPicPr>
          <p:cNvPr id="4" name="Picture 3" descr="imag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228600"/>
            <a:ext cx="1266825" cy="12668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05F5D2-B800-4E26-44F2-AF3723DD7831}"/>
              </a:ext>
            </a:extLst>
          </p:cNvPr>
          <p:cNvSpPr txBox="1"/>
          <p:nvPr/>
        </p:nvSpPr>
        <p:spPr>
          <a:xfrm>
            <a:off x="993058" y="1851025"/>
            <a:ext cx="75708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Subjectivity of Creativity:</a:t>
            </a:r>
            <a:r>
              <a:rPr lang="en-IN" dirty="0"/>
              <a:t> While technical elements (sharpness, composition) can be computed easily, pure creative storytelling remains difficult for models to evaluate independently.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Advanced Generative Models:</a:t>
            </a:r>
            <a:r>
              <a:rPr lang="en-IN" dirty="0"/>
              <a:t> Highly sophisticated deepfakes with intentionally injected metadata can occasionally bypass basic forensic layers, requiring continuous model updates.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Computational Intensity:</a:t>
            </a:r>
            <a:r>
              <a:rPr lang="en-IN" dirty="0"/>
              <a:t> Running heavy computer vision inference pipelines requires dedicated GPU resources or cloud-based microservices for fast response times.</a:t>
            </a:r>
          </a:p>
        </p:txBody>
      </p:sp>
    </p:spTree>
    <p:extLst>
      <p:ext uri="{BB962C8B-B14F-4D97-AF65-F5344CB8AC3E}">
        <p14:creationId xmlns:p14="http://schemas.microsoft.com/office/powerpoint/2010/main" val="2014107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C1D99D-9F58-0ACE-965B-9F2E34AC4C37}"/>
              </a:ext>
            </a:extLst>
          </p:cNvPr>
          <p:cNvSpPr>
            <a:spLocks noGrp="1"/>
          </p:cNvSpPr>
          <p:nvPr/>
        </p:nvSpPr>
        <p:spPr>
          <a:xfrm>
            <a:off x="635000" y="34995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>
                <a:cs typeface="Calibri"/>
              </a:rPr>
              <a:t>Conclusion and Future Scope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0D0AA6-7488-BAFE-1B30-D9101C13D79F}"/>
              </a:ext>
            </a:extLst>
          </p:cNvPr>
          <p:cNvSpPr txBox="1"/>
          <p:nvPr/>
        </p:nvSpPr>
        <p:spPr>
          <a:xfrm>
            <a:off x="924232" y="1819981"/>
            <a:ext cx="74831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Conclusion:</a:t>
            </a:r>
            <a:r>
              <a:rPr lang="en-IN" dirty="0"/>
              <a:t> The project successfully bridges the gap between high-volume contest management and trusted AI evaluation, ensuring fairness, efficiency, and scalability.</a:t>
            </a:r>
            <a:br>
              <a:rPr lang="en-IN" dirty="0"/>
            </a:b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Future Scope: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Integration of a real-time mobile app interface for instant submission and scoring.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Expansion of the AI model to support RAW file processing directly on the cloud.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Implementation of advanced transformer-based vision models for deeper narrative and semantic analysis of images.</a:t>
            </a:r>
          </a:p>
        </p:txBody>
      </p:sp>
    </p:spTree>
    <p:extLst>
      <p:ext uri="{BB962C8B-B14F-4D97-AF65-F5344CB8AC3E}">
        <p14:creationId xmlns:p14="http://schemas.microsoft.com/office/powerpoint/2010/main" val="2370217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C1D99D-9F58-0ACE-965B-9F2E34AC4C37}"/>
              </a:ext>
            </a:extLst>
          </p:cNvPr>
          <p:cNvSpPr>
            <a:spLocks noGrp="1"/>
          </p:cNvSpPr>
          <p:nvPr/>
        </p:nvSpPr>
        <p:spPr>
          <a:xfrm>
            <a:off x="635000" y="34995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cs typeface="Calibri"/>
              </a:rPr>
              <a:t>References (as per IEEE Standard format)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97AB92-D40A-CC0C-9115-6E2F3A2E3AC2}"/>
              </a:ext>
            </a:extLst>
          </p:cNvPr>
          <p:cNvSpPr txBox="1"/>
          <p:nvPr/>
        </p:nvSpPr>
        <p:spPr>
          <a:xfrm>
            <a:off x="835743" y="1691149"/>
            <a:ext cx="789530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[1]“</a:t>
            </a:r>
            <a:r>
              <a:rPr lang="en-IN" dirty="0" err="1"/>
              <a:t>GuruShots</a:t>
            </a:r>
            <a:r>
              <a:rPr lang="en-IN" dirty="0"/>
              <a:t> | The World’s Greatest Photography Game.” Accessed: Aug. 19, 2026. [Online]. Available: https://gurushots.com/</a:t>
            </a:r>
          </a:p>
          <a:p>
            <a:endParaRPr lang="en-IN" dirty="0"/>
          </a:p>
          <a:p>
            <a:r>
              <a:rPr lang="en-IN" dirty="0"/>
              <a:t>[2]“Free Photography Competitions &amp; Contests | </a:t>
            </a:r>
            <a:r>
              <a:rPr lang="en-IN" dirty="0" err="1"/>
              <a:t>Photocrowd</a:t>
            </a:r>
            <a:r>
              <a:rPr lang="en-IN" dirty="0"/>
              <a:t> Photo Competitions.” Accessed: Aug. 19, 2026. [Online]. Available: https://www.photocrowd.com/photo-competitions/</a:t>
            </a:r>
          </a:p>
          <a:p>
            <a:endParaRPr lang="en-IN" dirty="0"/>
          </a:p>
          <a:p>
            <a:r>
              <a:rPr lang="en-IN" dirty="0"/>
              <a:t>[3]S. He, Y. Xiao, A. Ming, and H. Ma, “Prompt-guided image </a:t>
            </a:r>
            <a:r>
              <a:rPr lang="en-IN" dirty="0" err="1"/>
              <a:t>color</a:t>
            </a:r>
            <a:r>
              <a:rPr lang="en-IN" dirty="0"/>
              <a:t> aesthetics assessment: Models, datasets and benchmarks,” </a:t>
            </a:r>
            <a:r>
              <a:rPr lang="en-IN" i="1" dirty="0"/>
              <a:t>Information Fusion</a:t>
            </a:r>
            <a:r>
              <a:rPr lang="en-IN" dirty="0"/>
              <a:t>, vol. 114, p. 102706, Feb. 2025, </a:t>
            </a:r>
            <a:r>
              <a:rPr lang="en-IN" dirty="0" err="1"/>
              <a:t>doi</a:t>
            </a:r>
            <a:r>
              <a:rPr lang="en-IN" dirty="0"/>
              <a:t>: 10.1016/j.inffus.2024.102706.</a:t>
            </a:r>
          </a:p>
          <a:p>
            <a:endParaRPr lang="en-IN" dirty="0"/>
          </a:p>
          <a:p>
            <a:r>
              <a:rPr lang="en-IN" dirty="0"/>
              <a:t>[4]S. Cao </a:t>
            </a:r>
            <a:r>
              <a:rPr lang="en-IN" i="1" dirty="0"/>
              <a:t>et al.</a:t>
            </a:r>
            <a:r>
              <a:rPr lang="en-IN" dirty="0"/>
              <a:t>, “</a:t>
            </a:r>
            <a:r>
              <a:rPr lang="en-IN" dirty="0" err="1"/>
              <a:t>ArtiMuse</a:t>
            </a:r>
            <a:r>
              <a:rPr lang="en-IN" dirty="0"/>
              <a:t>: Fine-Grained Image Aesthetics Assessment with Joint Scoring and Expert-Level Understanding.” Accessed: Aug. 19, 2026. [Online]. Available: https://openaccess.thecvf.com/content/CVPR2026/papers/Cao_ArtiMuse_Fine-Grained_Image_Aesthetics_Assessment_with_Joint_Scoring_and_Expert-Level_CVPR_2026_paper.pdf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3488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A442E-797D-27AF-E547-28BB4368B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7267CE9-15DE-39AD-9A1C-182A85AA5D93}"/>
              </a:ext>
            </a:extLst>
          </p:cNvPr>
          <p:cNvSpPr>
            <a:spLocks noGrp="1"/>
          </p:cNvSpPr>
          <p:nvPr/>
        </p:nvSpPr>
        <p:spPr>
          <a:xfrm>
            <a:off x="635000" y="349956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3600" dirty="0">
                <a:cs typeface="Calibri"/>
              </a:rPr>
              <a:t>References (as per IEEE Standard format)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57FDA-DC13-2FD5-690E-0A6091ACE42A}"/>
              </a:ext>
            </a:extLst>
          </p:cNvPr>
          <p:cNvSpPr txBox="1"/>
          <p:nvPr/>
        </p:nvSpPr>
        <p:spPr>
          <a:xfrm>
            <a:off x="835743" y="1691149"/>
            <a:ext cx="789530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[5]</a:t>
            </a:r>
          </a:p>
          <a:p>
            <a:r>
              <a:rPr lang="en-IN" i="1" dirty="0"/>
              <a:t>Mdpi.com</a:t>
            </a:r>
            <a:r>
              <a:rPr lang="en-IN" dirty="0"/>
              <a:t>, 2026. https://www.mdpi.com/2079-9292/14/7/1425 (accessed Aug. 19, 2026).</a:t>
            </a:r>
          </a:p>
          <a:p>
            <a:endParaRPr lang="en-IN" dirty="0"/>
          </a:p>
          <a:p>
            <a:r>
              <a:rPr lang="en-IN" dirty="0"/>
              <a:t>[6]</a:t>
            </a:r>
          </a:p>
          <a:p>
            <a:r>
              <a:rPr lang="en-IN" dirty="0"/>
              <a:t>H. Chen, F. Shao, B. Mu, and Q. Jiang, “Image Aesthetics Assessment With Emotion-Aware Multibranch Network,” </a:t>
            </a:r>
            <a:r>
              <a:rPr lang="en-IN" i="1" dirty="0"/>
              <a:t>IEEE Transactions on Instrumentation and Measurement</a:t>
            </a:r>
            <a:r>
              <a:rPr lang="en-IN" dirty="0"/>
              <a:t>, vol. 73, pp. 1–15, 2024, </a:t>
            </a:r>
            <a:r>
              <a:rPr lang="en-IN" dirty="0" err="1"/>
              <a:t>doi</a:t>
            </a:r>
            <a:r>
              <a:rPr lang="en-IN" dirty="0"/>
              <a:t>: 10.1109/tim.2024.3365174.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7232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985</Words>
  <Application>Microsoft Office PowerPoint</Application>
  <PresentationFormat>On-screen Show (4:3)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                    PIXEL PRIZE                   Major  Project / 7h Sem/ BCS753</vt:lpstr>
      <vt:lpstr>ABSTRACT</vt:lpstr>
      <vt:lpstr>OBJECTIVE</vt:lpstr>
      <vt:lpstr>SCOPE of the Problem Statement </vt:lpstr>
      <vt:lpstr>RELATED WORK  </vt:lpstr>
      <vt:lpstr>Applications</vt:lpstr>
      <vt:lpstr>Limitations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[COLLEGE LOGO ]             TITLE OF THE PROJECT                   Mini Project KCS 554/ 5th Sem</dc:title>
  <dc:creator>Vaibhav Ranjan</dc:creator>
  <cp:lastModifiedBy>Aditya Narayana</cp:lastModifiedBy>
  <cp:revision>115</cp:revision>
  <dcterms:created xsi:type="dcterms:W3CDTF">2006-08-16T00:00:00Z</dcterms:created>
  <dcterms:modified xsi:type="dcterms:W3CDTF">2026-08-19T06:34:18Z</dcterms:modified>
</cp:coreProperties>
</file>